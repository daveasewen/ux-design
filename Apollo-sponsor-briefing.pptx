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954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923544"/>
            <a:ext cx="274320" cy="20117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9848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APOLLO · DESIGN-SYSTEM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173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Apollo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85800" y="37033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governed engine for designing with AI — on brand, accessible, at speed.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6126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briefing · July 2026 · David Ewen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77824"/>
            <a:ext cx="274320" cy="20117"/>
          </a:xfrm>
          <a:prstGeom prst="rect">
            <a:avLst/>
          </a:prstGeom>
          <a:solidFill>
            <a:srgbClr val="DB0011"/>
          </a:solidFill>
          <a:ln/>
        </p:spPr>
        <p:txBody>
          <a:bodyPr anchor="t"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9848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TENSION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Designers spend their days assembling interfaces from components that already exist. Build work — not craft.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89320" y="1828800"/>
            <a:ext cx="0" cy="2377440"/>
          </a:xfrm>
          <a:prstGeom prst="line">
            <a:avLst/>
          </a:prstGeom>
          <a:noFill/>
          <a:ln w="12700">
            <a:solidFill>
              <a:srgbClr val="D7D8D6"/>
            </a:solidFill>
            <a:prstDash val="solid"/>
          </a:ln>
        </p:spPr>
        <p:txBody>
          <a:bodyPr anchor="t"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09360" y="1828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224028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generate an interface in seconds. But left ungoverned, it drifts from brand, from accessibility, from every standard we hold.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48920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sits exactly between the two.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923544"/>
            <a:ext cx="274320" cy="20117"/>
          </a:xfrm>
          <a:prstGeom prst="rect">
            <a:avLst/>
          </a:prstGeom>
          <a:solidFill>
            <a:srgbClr val="DB0011"/>
          </a:solidFill>
          <a:ln/>
        </p:spPr>
        <p:txBody>
          <a:bodyPr anchor="t"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9848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1554480"/>
            <a:ext cx="108173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Apollo is a </a:t>
            </a:r>
            <a:r>
              <a:rPr lang="en-US" sz="5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</a:t>
            </a:r>
            <a:endParaRPr lang="en-US" sz="52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design-system engine.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8580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generates on-brand, accessible interfaces at speed — and it is built so the 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does the build</a:t>
            </a: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the 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 does the craft</a:t>
            </a: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77824"/>
            <a:ext cx="274320" cy="20117"/>
          </a:xfrm>
          <a:prstGeom prst="rect">
            <a:avLst/>
          </a:prstGeom>
          <a:solidFill>
            <a:srgbClr val="DB0011"/>
          </a:solidFill>
          <a:ln/>
        </p:spPr>
        <p:txBody>
          <a:bodyPr anchor="t"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9848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7512" y="137160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moving parts. No black box.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56032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926080"/>
            <a:ext cx="24985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703320"/>
            <a:ext cx="24985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tokens and the reviewed, gated components — the single source of truth for what “on brand” means.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58718" y="256032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58718" y="2926080"/>
            <a:ext cx="24985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58718" y="3703320"/>
            <a:ext cx="24985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Executable checks for brand fidelity and accessibility. Not guidance — enforcement that can withhold “done”.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31636" y="256032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31636" y="2926080"/>
            <a:ext cx="24985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31636" y="3703320"/>
            <a:ext cx="24985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method: how a task is generated, retrieved, and reviewed. Repeatable, inspectable, improvable.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004554" y="256032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04554" y="2926080"/>
            <a:ext cx="24985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agent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04554" y="3703320"/>
            <a:ext cx="24985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that operates it — running today in VS Code with GitHub Copilot, the tools designers already have.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 by design — no bespoke runtime. Any capable AI agent can operate the engine.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77824"/>
            <a:ext cx="274320" cy="20117"/>
          </a:xfrm>
          <a:prstGeom prst="rect">
            <a:avLst/>
          </a:prstGeom>
          <a:solidFill>
            <a:srgbClr val="DB0011"/>
          </a:solidFill>
          <a:ln/>
        </p:spPr>
        <p:txBody>
          <a:bodyPr anchor="ctr"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9848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REAL 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7512" y="146304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concept.</a:t>
            </a:r>
            <a:endParaRPr lang="en-US" sz="4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system.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320040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component here is generated from the canon and rendered in light and dark, together, for review — the same view designers and reviewers use.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9560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5532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components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49560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AA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331720" y="5532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WCAG build target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0" y="49560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+ dark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0" y="5532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gated, both themes</a:t>
            </a:r>
            <a:endParaRPr lang="en-US" sz="1100" dirty="0"/>
          </a:p>
        </p:txBody>
      </p:sp>
      <p:pic>
        <p:nvPicPr>
          <p:cNvPr id="12" name="Image 0" descr="/tmp/proof_button_op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5080" y="1508760"/>
            <a:ext cx="5120640" cy="387568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355080" y="1508760"/>
            <a:ext cx="5120640" cy="3875684"/>
          </a:xfrm>
          <a:prstGeom prst="rect">
            <a:avLst/>
          </a:prstGeom>
          <a:ln w="9525">
            <a:solidFill>
              <a:srgbClr val="D7D8D6"/>
            </a:solidFill>
            <a:prstDash val="solid"/>
          </a:ln>
        </p:spPr>
        <p:txBody>
          <a:bodyPr anchor="t"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517904"/>
            <a:ext cx="274320" cy="20117"/>
          </a:xfrm>
          <a:prstGeom prst="rect">
            <a:avLst/>
          </a:prstGeom>
          <a:solidFill>
            <a:srgbClr val="DB0011"/>
          </a:solidFill>
          <a:ln/>
        </p:spPr>
        <p:txBody>
          <a:bodyPr anchor="ctr"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9848" y="13898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10817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 over </a:t>
            </a: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build.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685800" y="411480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00" dirty="0">
                <a:solidFill>
                  <a:srgbClr val="D7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 assembles what is known. The designer is freed for what is new — patterns, journeys, judgment. AI doesn't replace the designer's craft. It clears the ground for it.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77824"/>
            <a:ext cx="274320" cy="20117"/>
          </a:xfrm>
          <a:prstGeom prst="rect">
            <a:avLst/>
          </a:prstGeom>
          <a:solidFill>
            <a:srgbClr val="DB0011"/>
          </a:solidFill>
          <a:ln/>
        </p:spPr>
        <p:txBody>
          <a:bodyPr anchor="t"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9848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ENGINE, MANY MODES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7512" y="137160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brain, tuned for the task.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46888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24985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611880"/>
            <a:ext cx="24985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Strict, compliant assembly of known components. Boring by design — and for production, that is exactly right.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58718" y="246888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58718" y="2834640"/>
            <a:ext cx="24985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58718" y="3611880"/>
            <a:ext cx="24985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inspiration to explore new directions. What earns its place flows back to become new canon.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31636" y="246888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31636" y="2834640"/>
            <a:ext cx="24985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dev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31636" y="3611880"/>
            <a:ext cx="24985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review new components — the raw material the whole system runs on.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004554" y="246888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04554" y="2834640"/>
            <a:ext cx="24985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04554" y="3611880"/>
            <a:ext cx="24985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Open, low-stakes noodling — where ideas start before they are shaped.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5943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compliance gates hold across every mode. That shared floor is the moat.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77824"/>
            <a:ext cx="274320" cy="20117"/>
          </a:xfrm>
          <a:prstGeom prst="rect">
            <a:avLst/>
          </a:prstGeom>
          <a:solidFill>
            <a:srgbClr val="DB0011"/>
          </a:solidFill>
          <a:ln/>
        </p:spPr>
        <p:txBody>
          <a:bodyPr anchor="t"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9848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7512" y="137160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returns, one system.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46888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24985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Designers on the high-value 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611880"/>
            <a:ext cx="24985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time assembling the known; more on the craft only they can do.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58718" y="246888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58718" y="2834640"/>
            <a:ext cx="24985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built 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58718" y="3611880"/>
            <a:ext cx="24985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and accessibility enforced by the engine — not bolted on, not left to chance.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31636" y="246888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31636" y="2834640"/>
            <a:ext cx="24985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quality rises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31636" y="3611880"/>
            <a:ext cx="24985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consistent floor frees attention for taste, nuance, and the new.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004554" y="246888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04554" y="2834640"/>
            <a:ext cx="24985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to compliant UI, faster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04554" y="3611880"/>
            <a:ext cx="24985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repetitive build collapses from hours to moments.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77824"/>
            <a:ext cx="274320" cy="20117"/>
          </a:xfrm>
          <a:prstGeom prst="rect">
            <a:avLst/>
          </a:prstGeom>
          <a:solidFill>
            <a:srgbClr val="DB0011"/>
          </a:solidFill>
          <a:ln/>
        </p:spPr>
        <p:txBody>
          <a:bodyPr anchor="t"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9848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GOES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17352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  <p:txBody>
          <a:bodyPr anchor="t"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14600" y="196596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Designers experimenting. </a:t>
            </a: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 pack they run in their own tools — release imminent, feedback flowing back.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85800" y="3246120"/>
            <a:ext cx="10817352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  <p:txBody>
          <a:bodyPr anchor="t"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14600" y="338328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richer, well-crafted </a:t>
            </a: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as the source of truth</a:t>
            </a: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a settings layer: admin tuning, a simple view for users.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85800" y="4663440"/>
            <a:ext cx="10817352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  <p:txBody>
          <a:bodyPr anchor="t"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14600" y="480060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design brain </a:t>
            </a: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powering many modes of creation</a:t>
            </a: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from strict production to genuinely new patterns.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923544"/>
            <a:ext cx="274320" cy="20117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9848" y="795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ARE, HONESTLY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2011680"/>
            <a:ext cx="9875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3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</a:t>
            </a: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</a:t>
            </a:r>
            <a:r>
              <a:rPr lang="en-US" sz="3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component inventory is still early, and the approach is deliberately </a:t>
            </a: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</a:t>
            </a:r>
            <a:r>
              <a:rPr lang="en-US" sz="3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We are showing progress and learning in the open — not claiming a finished product. That candour is the point: it is how we get this right.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77824"/>
            <a:ext cx="274320" cy="20117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9848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7512" y="137160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things.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85800" y="2788920"/>
            <a:ext cx="5029200" cy="25603"/>
          </a:xfrm>
          <a:prstGeom prst="rect">
            <a:avLst/>
          </a:prstGeom>
          <a:solidFill>
            <a:srgbClr val="DB0011"/>
          </a:solidFill>
          <a:ln/>
        </p:spPr>
        <p:txBody>
          <a:bodyPr anchor="t"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Backing</a:t>
            </a: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keep going — and to widen it.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42062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signal that the idea is worth pursuing, and worth more room to prove itself. No budget ask today.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2788920"/>
            <a:ext cx="5029200" cy="25603"/>
          </a:xfrm>
          <a:prstGeom prst="rect">
            <a:avLst/>
          </a:prstGeom>
          <a:solidFill>
            <a:srgbClr val="DB0011"/>
          </a:solidFill>
          <a:ln/>
        </p:spPr>
        <p:txBody>
          <a:bodyPr anchor="t"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09360" y="30175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checkpoint</a:t>
            </a: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set today.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309360" y="42062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agree the date we come back together, so momentum has a deadline to meet.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817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Apollo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685800" y="393192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600" dirty="0">
                <a:solidFill>
                  <a:srgbClr val="D7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 is automated.</a:t>
            </a:r>
            <a:endParaRPr lang="en-US" sz="2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600" dirty="0">
                <a:solidFill>
                  <a:srgbClr val="D7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craft is the point.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736</Words>
  <Application>Microsoft Macintosh PowerPoint</Application>
  <PresentationFormat>Widescreen</PresentationFormat>
  <Paragraphs>101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Apollo — sponsor briefing</dc:title>
  <dc:subject>PptxGenJS Presentation</dc:subject>
  <dc:creator>David Ewen</dc:creator>
  <cp:lastModifiedBy>David Ewen</cp:lastModifiedBy>
  <cp:revision>2</cp:revision>
  <dcterms:created xsi:type="dcterms:W3CDTF">2026-07-14T10:39:44Z</dcterms:created>
  <dcterms:modified xsi:type="dcterms:W3CDTF">2026-07-14T10:51:17Z</dcterms:modified>
</cp:coreProperties>
</file>